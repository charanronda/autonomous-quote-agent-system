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ileron" charset="1" panose="00000500000000000000"/>
      <p:regular r:id="rId15"/>
    </p:embeddedFont>
    <p:embeddedFont>
      <p:font typeface="Aileron Bold" charset="1" panose="00000800000000000000"/>
      <p:regular r:id="rId16"/>
    </p:embeddedFont>
    <p:embeddedFont>
      <p:font typeface="Arimo Bold" charset="1" panose="020B0704020202020204"/>
      <p:regular r:id="rId17"/>
    </p:embeddedFont>
    <p:embeddedFont>
      <p:font typeface="Arimo" charset="1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583032"/>
            <a:ext cx="3943912" cy="811326"/>
            <a:chOff x="0" y="0"/>
            <a:chExt cx="1038726" cy="2136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8726" cy="213682"/>
            </a:xfrm>
            <a:custGeom>
              <a:avLst/>
              <a:gdLst/>
              <a:ahLst/>
              <a:cxnLst/>
              <a:rect r="r" b="b" t="t" l="l"/>
              <a:pathLst>
                <a:path h="213682" w="1038726">
                  <a:moveTo>
                    <a:pt x="106841" y="0"/>
                  </a:moveTo>
                  <a:lnTo>
                    <a:pt x="931884" y="0"/>
                  </a:lnTo>
                  <a:cubicBezTo>
                    <a:pt x="960221" y="0"/>
                    <a:pt x="987396" y="11256"/>
                    <a:pt x="1007433" y="31293"/>
                  </a:cubicBezTo>
                  <a:cubicBezTo>
                    <a:pt x="1027469" y="51330"/>
                    <a:pt x="1038726" y="78505"/>
                    <a:pt x="1038726" y="106841"/>
                  </a:cubicBezTo>
                  <a:lnTo>
                    <a:pt x="1038726" y="106841"/>
                  </a:lnTo>
                  <a:cubicBezTo>
                    <a:pt x="1038726" y="165848"/>
                    <a:pt x="990891" y="213682"/>
                    <a:pt x="931884" y="213682"/>
                  </a:cubicBezTo>
                  <a:lnTo>
                    <a:pt x="106841" y="213682"/>
                  </a:lnTo>
                  <a:cubicBezTo>
                    <a:pt x="78505" y="213682"/>
                    <a:pt x="51330" y="202426"/>
                    <a:pt x="31293" y="182389"/>
                  </a:cubicBezTo>
                  <a:cubicBezTo>
                    <a:pt x="11256" y="162353"/>
                    <a:pt x="0" y="135177"/>
                    <a:pt x="0" y="106841"/>
                  </a:cubicBezTo>
                  <a:lnTo>
                    <a:pt x="0" y="106841"/>
                  </a:lnTo>
                  <a:cubicBezTo>
                    <a:pt x="0" y="78505"/>
                    <a:pt x="11256" y="51330"/>
                    <a:pt x="31293" y="31293"/>
                  </a:cubicBezTo>
                  <a:cubicBezTo>
                    <a:pt x="51330" y="11256"/>
                    <a:pt x="78505" y="0"/>
                    <a:pt x="106841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038726" cy="261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Group-15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5114860"/>
            <a:ext cx="13303790" cy="270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66"/>
              </a:lnSpc>
            </a:pPr>
            <a:r>
              <a:rPr lang="en-US" b="true" sz="20266" spc="-74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Pitch Deck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041546"/>
            <a:ext cx="665189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Use case 3 - Autonomous Insurance Quote Agents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15456" y="9041546"/>
            <a:ext cx="187109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05-03-2026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784617"/>
            <a:ext cx="7493378" cy="3746956"/>
            <a:chOff x="0" y="0"/>
            <a:chExt cx="1455025" cy="7275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55025" cy="727564"/>
            </a:xfrm>
            <a:custGeom>
              <a:avLst/>
              <a:gdLst/>
              <a:ahLst/>
              <a:cxnLst/>
              <a:rect r="r" b="b" t="t" l="l"/>
              <a:pathLst>
                <a:path h="727564" w="1455025">
                  <a:moveTo>
                    <a:pt x="0" y="0"/>
                  </a:moveTo>
                  <a:lnTo>
                    <a:pt x="1455025" y="0"/>
                  </a:lnTo>
                  <a:lnTo>
                    <a:pt x="1455025" y="727564"/>
                  </a:lnTo>
                  <a:lnTo>
                    <a:pt x="0" y="727564"/>
                  </a:lnTo>
                  <a:close/>
                </a:path>
              </a:pathLst>
            </a:custGeom>
            <a:blipFill>
              <a:blip r:embed="rId3"/>
              <a:stretch>
                <a:fillRect l="0" t="-12359" r="0" b="-12359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0" y="5240118"/>
            <a:ext cx="1061403" cy="106140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6642357"/>
            <a:ext cx="1061403" cy="106140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02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3048521"/>
            <a:ext cx="6056426" cy="18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7200" spc="-26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Problem Statement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250930"/>
            <a:ext cx="6056426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Insurance companies generate thousands of quotes every day, but only a small percentage convert into actual policies.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91949" y="5347767"/>
            <a:ext cx="5789690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Large number of unconverted insurance quotes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91949" y="6719033"/>
            <a:ext cx="5789690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High operational cost for insurance companies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44000" y="7933977"/>
            <a:ext cx="1061403" cy="106140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0" y="9225597"/>
            <a:ext cx="1061403" cy="106140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04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491949" y="8093808"/>
            <a:ext cx="578969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low response time to customers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91949" y="9302274"/>
            <a:ext cx="5789690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 Manual investigation required for each quote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82626" y="784617"/>
            <a:ext cx="5276674" cy="3914351"/>
            <a:chOff x="0" y="0"/>
            <a:chExt cx="1024597" cy="7600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24597" cy="760068"/>
            </a:xfrm>
            <a:custGeom>
              <a:avLst/>
              <a:gdLst/>
              <a:ahLst/>
              <a:cxnLst/>
              <a:rect r="r" b="b" t="t" l="l"/>
              <a:pathLst>
                <a:path h="760068" w="1024597">
                  <a:moveTo>
                    <a:pt x="0" y="0"/>
                  </a:moveTo>
                  <a:lnTo>
                    <a:pt x="1024597" y="0"/>
                  </a:lnTo>
                  <a:lnTo>
                    <a:pt x="1024597" y="760068"/>
                  </a:lnTo>
                  <a:lnTo>
                    <a:pt x="0" y="760068"/>
                  </a:lnTo>
                  <a:close/>
                </a:path>
              </a:pathLst>
            </a:custGeom>
            <a:blipFill>
              <a:blip r:embed="rId3"/>
              <a:stretch>
                <a:fillRect l="-14968" t="0" r="-14968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4698968"/>
            <a:ext cx="1061403" cy="106140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7626318"/>
            <a:ext cx="1061403" cy="106140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03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85131" y="908442"/>
            <a:ext cx="6056426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spc="-266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Ou</a:t>
            </a:r>
            <a:r>
              <a:rPr lang="en-US" b="true" sz="7200" spc="-26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r Solution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5131" y="2116615"/>
            <a:ext cx="7798777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We developed an AI-powered Autonomous Quote Decision System.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The system automatically analyzes insurance quotes and predicts the best action.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32607" y="7784433"/>
            <a:ext cx="5004489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The system works through a multi-agent AI pipeline that processes quotes intelligently.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This reduces manual work and improves decision speed.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036596"/>
            <a:ext cx="4366477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Profiles the risk level of customers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14469" y="6036596"/>
            <a:ext cx="4366477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Predicts conversion probability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527855" y="7626318"/>
            <a:ext cx="1061403" cy="106140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527855" y="4698968"/>
            <a:ext cx="1061403" cy="1061403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02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28700" y="8925845"/>
            <a:ext cx="4366477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Suggests optimal premium pricing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27133" y="8925845"/>
            <a:ext cx="4366477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Routes the quote to the correct decision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4408" y="495181"/>
            <a:ext cx="6056426" cy="18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spc="-266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System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87556" y="4164507"/>
            <a:ext cx="491698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Our system uses a Multi-Agent AI Pipeline.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87556" y="4723573"/>
            <a:ext cx="6189932" cy="1909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1"/>
              </a:lnSpc>
            </a:pPr>
            <a:r>
              <a:rPr lang="en-US" sz="2165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Each agent performs a specialized task and passes the output to the next agent.</a:t>
            </a:r>
          </a:p>
          <a:p>
            <a:pPr algn="l">
              <a:lnSpc>
                <a:spcPts val="3031"/>
              </a:lnSpc>
              <a:spcBef>
                <a:spcPct val="0"/>
              </a:spcBef>
            </a:pPr>
            <a:r>
              <a:rPr lang="en-US" sz="2165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This architecture enables automated and intelligent decision-making in insurance quote management.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34001" y="2616901"/>
            <a:ext cx="5331281" cy="734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233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Agent 1 — Risk Profiler</a:t>
            </a:r>
          </a:p>
          <a:p>
            <a:pPr algn="l">
              <a:lnSpc>
                <a:spcPts val="3263"/>
              </a:lnSpc>
            </a:pPr>
            <a:r>
              <a:rPr lang="en-US" sz="233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 Analyzes driver </a:t>
            </a:r>
            <a:r>
              <a:rPr lang="en-US" sz="233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and vehicle data to determine risk level.</a:t>
            </a:r>
          </a:p>
          <a:p>
            <a:pPr algn="l">
              <a:lnSpc>
                <a:spcPts val="3263"/>
              </a:lnSpc>
            </a:pPr>
            <a:r>
              <a:rPr lang="en-US" sz="233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↓</a:t>
            </a:r>
          </a:p>
          <a:p>
            <a:pPr algn="l">
              <a:lnSpc>
                <a:spcPts val="3263"/>
              </a:lnSpc>
            </a:pPr>
            <a:r>
              <a:rPr lang="en-US" sz="233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Agent 2 — Conversion Predictor</a:t>
            </a:r>
          </a:p>
          <a:p>
            <a:pPr algn="l">
              <a:lnSpc>
                <a:spcPts val="3263"/>
              </a:lnSpc>
            </a:pPr>
            <a:r>
              <a:rPr lang="en-US" sz="233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 Predicts probability of policy conversion.</a:t>
            </a:r>
          </a:p>
          <a:p>
            <a:pPr algn="l">
              <a:lnSpc>
                <a:spcPts val="3263"/>
              </a:lnSpc>
            </a:pPr>
            <a:r>
              <a:rPr lang="en-US" sz="233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↓</a:t>
            </a:r>
          </a:p>
          <a:p>
            <a:pPr algn="l">
              <a:lnSpc>
                <a:spcPts val="3263"/>
              </a:lnSpc>
            </a:pPr>
            <a:r>
              <a:rPr lang="en-US" sz="233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Agent 3 — Premium Advisor</a:t>
            </a:r>
          </a:p>
          <a:p>
            <a:pPr algn="l">
              <a:lnSpc>
                <a:spcPts val="3263"/>
              </a:lnSpc>
            </a:pPr>
            <a:r>
              <a:rPr lang="en-US" sz="233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 Suggests optimal premium adjustments.</a:t>
            </a:r>
          </a:p>
          <a:p>
            <a:pPr algn="l">
              <a:lnSpc>
                <a:spcPts val="3263"/>
              </a:lnSpc>
            </a:pPr>
            <a:r>
              <a:rPr lang="en-US" sz="233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↓</a:t>
            </a:r>
          </a:p>
          <a:p>
            <a:pPr algn="l">
              <a:lnSpc>
                <a:spcPts val="3263"/>
              </a:lnSpc>
            </a:pPr>
            <a:r>
              <a:rPr lang="en-US" sz="233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Agent 4 — Decision Router</a:t>
            </a:r>
          </a:p>
          <a:p>
            <a:pPr algn="l">
              <a:lnSpc>
                <a:spcPts val="3263"/>
              </a:lnSpc>
            </a:pPr>
            <a:r>
              <a:rPr lang="en-US" sz="233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 Final decision:</a:t>
            </a:r>
          </a:p>
          <a:p>
            <a:pPr algn="l" marL="503250" indent="-251625" lvl="1">
              <a:lnSpc>
                <a:spcPts val="3263"/>
              </a:lnSpc>
              <a:buFont typeface="Arial"/>
              <a:buChar char="•"/>
            </a:pPr>
            <a:r>
              <a:rPr lang="en-US" b="true" sz="233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Auto approve</a:t>
            </a:r>
          </a:p>
          <a:p>
            <a:pPr algn="l" marL="503250" indent="-251625" lvl="1">
              <a:lnSpc>
                <a:spcPts val="3263"/>
              </a:lnSpc>
              <a:buFont typeface="Arial"/>
              <a:buChar char="•"/>
            </a:pPr>
            <a:r>
              <a:rPr lang="en-US" b="true" sz="233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Agent follow-up</a:t>
            </a:r>
          </a:p>
          <a:p>
            <a:pPr algn="l" marL="503250" indent="-251625" lvl="1">
              <a:lnSpc>
                <a:spcPts val="3263"/>
              </a:lnSpc>
              <a:buFont typeface="Arial"/>
              <a:buChar char="•"/>
            </a:pPr>
            <a:r>
              <a:rPr lang="en-US" b="true" sz="233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Escalate to underwriter</a:t>
            </a:r>
          </a:p>
          <a:p>
            <a:pPr algn="l">
              <a:lnSpc>
                <a:spcPts val="326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5378" y="514350"/>
            <a:ext cx="7169754" cy="18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spc="-266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Technology Stack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5378" y="2359978"/>
            <a:ext cx="1645853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Our solution integrates modern web technologies with machine learning to build an intelligent insurance decision system.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5378" y="3087370"/>
            <a:ext cx="578969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Frontend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75132" y="3087370"/>
            <a:ext cx="578969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Backend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7074" y="3675380"/>
            <a:ext cx="5789690" cy="246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HTML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CSS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JavaScript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Used to create an interactive web interface where users enter insurance quote details and view AI predictions.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575132" y="3786981"/>
            <a:ext cx="5789690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Python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Flask API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Handles communication between the user interface and machine learning models.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05378" y="6301105"/>
            <a:ext cx="578969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Machine Learning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5378" y="7104380"/>
            <a:ext cx="5789690" cy="211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Scikit-learn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Pandas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NumPy</a:t>
            </a:r>
          </a:p>
          <a:p>
            <a:pPr algn="l" marL="431802" indent="-215901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Used for data preprocessing, feature engineering, and predictive modeling.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575132" y="6231731"/>
            <a:ext cx="578969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Explainable AI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75132" y="7035006"/>
            <a:ext cx="5789690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SHAP (SHapley Additive Explanations)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Provides insights into which features influence AI decisions.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8048" y="401697"/>
            <a:ext cx="9557355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spc="-266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System Workflow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48048" y="2208491"/>
            <a:ext cx="1061403" cy="106140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0" y="2208491"/>
            <a:ext cx="1061403" cy="106140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3502" y="6398637"/>
            <a:ext cx="1061403" cy="106140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0" y="4612799"/>
            <a:ext cx="1061403" cy="106140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04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939561" y="2160866"/>
            <a:ext cx="578969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User Input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00655" y="6163687"/>
            <a:ext cx="578969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Data Processing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91949" y="2160866"/>
            <a:ext cx="578969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AI Model Analysis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91949" y="4667786"/>
            <a:ext cx="578969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Decision Generation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39561" y="2949000"/>
            <a:ext cx="5789690" cy="281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The user enters insurance quote details through the web interface such as: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Number of drivers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Annual miles driven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Coverage type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Customer salary category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Quoted premium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100655" y="6912987"/>
            <a:ext cx="5789690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The input data is sent to the Python backend where it is preprocessed and prepared for machine learning analysis.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91949" y="2949000"/>
            <a:ext cx="5789690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Multiple AI agents analyze the quote to determine risk level, predict conversion probability, and evaluate premium suitability.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91949" y="5263955"/>
            <a:ext cx="5789690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Based on the AI analysis, the system generates a final decision and recommended premium.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144000" y="6652161"/>
            <a:ext cx="1061403" cy="1061403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05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491949" y="6538337"/>
            <a:ext cx="578969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Results Display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91949" y="7132062"/>
            <a:ext cx="5789690" cy="246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The results are instantly displayed on the dashboard showing: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Risk Profile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Conversion Probability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Suggested Premium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Final Decision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765922" y="2791007"/>
            <a:ext cx="7493378" cy="3746956"/>
            <a:chOff x="0" y="0"/>
            <a:chExt cx="1455025" cy="7275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55025" cy="727564"/>
            </a:xfrm>
            <a:custGeom>
              <a:avLst/>
              <a:gdLst/>
              <a:ahLst/>
              <a:cxnLst/>
              <a:rect r="r" b="b" t="t" l="l"/>
              <a:pathLst>
                <a:path h="727564" w="1455025">
                  <a:moveTo>
                    <a:pt x="0" y="0"/>
                  </a:moveTo>
                  <a:lnTo>
                    <a:pt x="1455025" y="0"/>
                  </a:lnTo>
                  <a:lnTo>
                    <a:pt x="1455025" y="727564"/>
                  </a:lnTo>
                  <a:lnTo>
                    <a:pt x="0" y="727564"/>
                  </a:lnTo>
                  <a:close/>
                </a:path>
              </a:pathLst>
            </a:custGeom>
            <a:blipFill>
              <a:blip r:embed="rId3"/>
              <a:stretch>
                <a:fillRect l="0" t="-49992" r="0" b="-49992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52345" y="733703"/>
            <a:ext cx="6056426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spc="-266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Key Features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4196" y="6196814"/>
            <a:ext cx="8479804" cy="1446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5"/>
              </a:lnSpc>
            </a:pPr>
            <a:r>
              <a:rPr lang="en-US" sz="2761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The system provides insights into why a decision was made, improving transparency and trust.</a:t>
            </a:r>
          </a:p>
          <a:p>
            <a:pPr algn="l">
              <a:lnSpc>
                <a:spcPts val="3865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52345" y="1835165"/>
            <a:ext cx="605642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Autonomous AI Decision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2345" y="3107939"/>
            <a:ext cx="6056426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 Multi-agent AI pipeline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 • Automated insurance quote analysis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 • Conversion probability prediction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 • Intelligent premium recommendation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 • Real-time dashboard interface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31101" y="2667521"/>
            <a:ext cx="5825797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7200" spc="-26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Ou</a:t>
            </a:r>
            <a:r>
              <a:rPr lang="en-US" b="true" sz="7200" spc="-26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r Team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559830" y="1045108"/>
            <a:ext cx="369947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AI DAY HACKATON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03280" y="4711700"/>
            <a:ext cx="375218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Prem Chand Mahanta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11195" y="4711700"/>
            <a:ext cx="375218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Prem Charan Ronda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3280" y="5559594"/>
            <a:ext cx="3752186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Group Lead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Frontend and Backend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11195" y="5886618"/>
            <a:ext cx="375218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Backend and Deployment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56912" y="4711700"/>
            <a:ext cx="375218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T.Akhilesh Sai Krishna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962708" y="4711700"/>
            <a:ext cx="375218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MD Irfan Hossain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06299" y="5886618"/>
            <a:ext cx="375218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Backend and Files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11031" y="5886618"/>
            <a:ext cx="375218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Frontend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583032"/>
            <a:ext cx="3943912" cy="811326"/>
            <a:chOff x="0" y="0"/>
            <a:chExt cx="1038726" cy="2136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8726" cy="213682"/>
            </a:xfrm>
            <a:custGeom>
              <a:avLst/>
              <a:gdLst/>
              <a:ahLst/>
              <a:cxnLst/>
              <a:rect r="r" b="b" t="t" l="l"/>
              <a:pathLst>
                <a:path h="213682" w="1038726">
                  <a:moveTo>
                    <a:pt x="106841" y="0"/>
                  </a:moveTo>
                  <a:lnTo>
                    <a:pt x="931884" y="0"/>
                  </a:lnTo>
                  <a:cubicBezTo>
                    <a:pt x="960221" y="0"/>
                    <a:pt x="987396" y="11256"/>
                    <a:pt x="1007433" y="31293"/>
                  </a:cubicBezTo>
                  <a:cubicBezTo>
                    <a:pt x="1027469" y="51330"/>
                    <a:pt x="1038726" y="78505"/>
                    <a:pt x="1038726" y="106841"/>
                  </a:cubicBezTo>
                  <a:lnTo>
                    <a:pt x="1038726" y="106841"/>
                  </a:lnTo>
                  <a:cubicBezTo>
                    <a:pt x="1038726" y="165848"/>
                    <a:pt x="990891" y="213682"/>
                    <a:pt x="931884" y="213682"/>
                  </a:cubicBezTo>
                  <a:lnTo>
                    <a:pt x="106841" y="213682"/>
                  </a:lnTo>
                  <a:cubicBezTo>
                    <a:pt x="78505" y="213682"/>
                    <a:pt x="51330" y="202426"/>
                    <a:pt x="31293" y="182389"/>
                  </a:cubicBezTo>
                  <a:cubicBezTo>
                    <a:pt x="11256" y="162353"/>
                    <a:pt x="0" y="135177"/>
                    <a:pt x="0" y="106841"/>
                  </a:cubicBezTo>
                  <a:lnTo>
                    <a:pt x="0" y="106841"/>
                  </a:lnTo>
                  <a:cubicBezTo>
                    <a:pt x="0" y="78505"/>
                    <a:pt x="11256" y="51330"/>
                    <a:pt x="31293" y="31293"/>
                  </a:cubicBezTo>
                  <a:cubicBezTo>
                    <a:pt x="51330" y="11256"/>
                    <a:pt x="78505" y="0"/>
                    <a:pt x="106841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038726" cy="261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Group 15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02887" y="3358537"/>
            <a:ext cx="13303790" cy="270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66"/>
              </a:lnSpc>
            </a:pPr>
            <a:r>
              <a:rPr lang="en-US" sz="20266" spc="-749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Big Thanks!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97917" y="639445"/>
            <a:ext cx="336138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CSI CHAPTER-GITAM HYD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DAHDGaBjiRw</dc:identifier>
  <dcterms:modified xsi:type="dcterms:W3CDTF">2011-08-01T06:04:30Z</dcterms:modified>
  <cp:revision>1</cp:revision>
  <dc:title>Blue Modern Business Pitch Deck Presentation</dc:title>
</cp:coreProperties>
</file>